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5168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-731520"/>
            <a:ext cx="2926080" cy="2926080"/>
          </a:xfrm>
          <a:prstGeom prst="ellipse">
            <a:avLst/>
          </a:prstGeom>
          <a:solidFill>
            <a:srgbClr val="1B3A6B">
              <a:alpha val="40000"/>
            </a:srgbClr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-274320"/>
            <a:ext cx="1828800" cy="182880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251460"/>
            <a:ext cx="4625340" cy="662940"/>
          </a:xfrm>
          <a:prstGeom prst="roundRect">
            <a:avLst>
              <a:gd name="adj" fmla="val 18750"/>
            </a:avLst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" name="Text 4"/>
          <p:cNvSpPr/>
          <p:nvPr/>
        </p:nvSpPr>
        <p:spPr>
          <a:xfrm>
            <a:off x="629793" y="335280"/>
            <a:ext cx="42801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5542  ·  Big Data Analytics &amp; Applications  UMKC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VoiceIQ-AI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Lecture &amp; Meeting Assistant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 Pipeline  ·  Speech → Intelligence → Voice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1965960" cy="475488"/>
          </a:xfrm>
          <a:prstGeom prst="roundRect">
            <a:avLst>
              <a:gd name="adj" fmla="val 15385"/>
            </a:avLst>
          </a:prstGeom>
          <a:solidFill>
            <a:srgbClr val="132040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Audio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23160" y="3255264"/>
            <a:ext cx="18288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606040" y="3063240"/>
            <a:ext cx="1965960" cy="475488"/>
          </a:xfrm>
          <a:prstGeom prst="roundRect">
            <a:avLst>
              <a:gd name="adj" fmla="val 15385"/>
            </a:avLst>
          </a:prstGeom>
          <a:solidFill>
            <a:srgbClr val="132040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06040" y="30632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Whisper STT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3255264"/>
            <a:ext cx="18288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3063240"/>
            <a:ext cx="1965960" cy="475488"/>
          </a:xfrm>
          <a:prstGeom prst="roundRect">
            <a:avLst>
              <a:gd name="adj" fmla="val 15385"/>
            </a:avLst>
          </a:prstGeom>
          <a:solidFill>
            <a:srgbClr val="132040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30632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NLP Analysis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20840" y="3255264"/>
            <a:ext cx="18288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03720" y="3063240"/>
            <a:ext cx="1965960" cy="475488"/>
          </a:xfrm>
          <a:prstGeom prst="roundRect">
            <a:avLst>
              <a:gd name="adj" fmla="val 15385"/>
            </a:avLst>
          </a:prstGeom>
          <a:solidFill>
            <a:srgbClr val="132040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03720" y="30632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Voice Output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133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Rehan Ali   |   Quiz Challenge 2   |   April 2026</a:t>
            </a:r>
            <a:endParaRPr lang="en-US" sz="2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32461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Description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96696"/>
            <a:ext cx="822960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2651760" cy="3291840"/>
          </a:xfrm>
          <a:prstGeom prst="rect">
            <a:avLst/>
          </a:prstGeom>
          <a:solidFill>
            <a:srgbClr val="132040"/>
          </a:solidFill>
          <a:ln w="889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71600" y="1600200"/>
            <a:ext cx="822960" cy="822960"/>
          </a:xfrm>
          <a:prstGeom prst="ellipse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⏳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Revisits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090672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professionals struggle to re-listen to long lectures just to find one action item or key decision.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417320"/>
            <a:ext cx="2651760" cy="3291840"/>
          </a:xfrm>
          <a:prstGeom prst="rect">
            <a:avLst/>
          </a:prstGeom>
          <a:solidFill>
            <a:srgbClr val="132040"/>
          </a:solidFill>
          <a:ln w="889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06240" y="1600200"/>
            <a:ext cx="822960" cy="822960"/>
          </a:xfrm>
          <a:prstGeom prst="ellipse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0624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🔇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83280" y="2514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Is Not Enough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090672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speech-to-text only transcribes — it provides zero intelligence: no summary, no tasks, no insights.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417320"/>
            <a:ext cx="2651760" cy="3291840"/>
          </a:xfrm>
          <a:prstGeom prst="rect">
            <a:avLst/>
          </a:prstGeom>
          <a:solidFill>
            <a:srgbClr val="132040"/>
          </a:solidFill>
          <a:ln w="889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040880" y="1600200"/>
            <a:ext cx="822960" cy="822960"/>
          </a:xfrm>
          <a:prstGeom prst="ellipse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04088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🧩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17920" y="2514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Workflow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3090672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juggle multiple tools for transcription, summarization, and notes — wasting time and losing context.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solidFill>
            <a:srgbClr val="3B82F6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Objective: Build a multimodal AI pipeline — from raw audio → intelligent summary → AI-voiced brief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154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Interesting / Business Value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73836"/>
            <a:ext cx="822960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651760" cy="1371600"/>
          </a:xfrm>
          <a:prstGeom prst="rect">
            <a:avLst/>
          </a:prstGeom>
          <a:solidFill>
            <a:srgbClr val="0A1628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60x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48640" y="212140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manual transcription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651760" cy="1371600"/>
          </a:xfrm>
          <a:prstGeom prst="rect">
            <a:avLst/>
          </a:prstGeom>
          <a:solidFill>
            <a:srgbClr val="0A1628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14630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383280" y="212140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accuracy on clean audio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651760" cy="1371600"/>
          </a:xfrm>
          <a:prstGeom prst="rect">
            <a:avLst/>
          </a:prstGeom>
          <a:solidFill>
            <a:srgbClr val="0A1628"/>
          </a:solidFill>
          <a:ln w="1905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0" y="14630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3-in-1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217920" y="212140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+ Sentiment + Keywords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6928" y="30266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Corporate Meetings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331927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action items from boardroom recordings, integrated with project management tools.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73168" y="30266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Education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73168" y="331927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summaries for students — ideal for revision, accessibility, and self-paced learning.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6928" y="39867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Healthcare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427939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dictation assistants that convert doctor notes into structured patient records.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931920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73168" y="39867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♿  Accessibility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73168" y="427939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outputs (text + voice) help users with visual or hearing impairments.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8803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Inputs Used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4114800" cy="3474720"/>
          </a:xfrm>
          <a:prstGeom prst="rect">
            <a:avLst/>
          </a:prstGeom>
          <a:solidFill>
            <a:srgbClr val="132040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Dataset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20574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LibriSpeech ASR Corpus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49631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249631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+ Artificially Noisy Audio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93522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293522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.mp3  and  .wav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37413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Rate: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337413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kHz (resampled with librosa)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81304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38130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(multilingual capable)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2519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42519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10–120 second clips per test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1417320"/>
            <a:ext cx="3840480" cy="3474720"/>
          </a:xfrm>
          <a:prstGeom prst="rect">
            <a:avLst/>
          </a:prstGeom>
          <a:solidFill>
            <a:srgbClr val="132040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Preprocessing Pipeline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029200" y="2084832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0" y="2084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40680" y="208483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audio file via librosa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0" y="2514600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40680" y="2514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 to 16 kHz (Whisper standard)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0" y="2944368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0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40680" y="294436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amplitude (avoid clipping)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0" y="3374136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0" y="3374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40680" y="3374136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Gaussian noise (σ=0.02) for eval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0" y="3803904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29200" y="3803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440680" y="380390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processed .wav to /content/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29200" y="4233672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029200" y="4233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440680" y="423367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into Whisper transcription layer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613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18032"/>
            <a:ext cx="822960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2606040" cy="1143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🎤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19385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Input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2677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.wav / .mp3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63240" y="1920240"/>
            <a:ext cx="228600" cy="914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91840" y="1417320"/>
            <a:ext cx="2606040" cy="1143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148132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83280" y="19385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STT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22677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→ Text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97880" y="1920240"/>
            <a:ext cx="228600" cy="914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1417320"/>
            <a:ext cx="2606040" cy="1143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26480" y="148132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17920" y="19385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DistilBART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22677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Abstractive Summary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07992" y="2560320"/>
            <a:ext cx="91440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2606040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0358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🔊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8640" y="34930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gTTS Narration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382219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Output (MP3)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063240" y="3493008"/>
            <a:ext cx="228600" cy="914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91840" y="2971800"/>
            <a:ext cx="2606040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91840" y="30358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383280" y="34930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KeyBERT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83280" y="382219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Extraction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897880" y="3493008"/>
            <a:ext cx="228600" cy="914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126480" y="2971800"/>
            <a:ext cx="2606040" cy="114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126480" y="30358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217920" y="34930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17920" y="382219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4224528"/>
            <a:ext cx="8229600" cy="274320"/>
          </a:xfrm>
          <a:prstGeom prst="roundRect">
            <a:avLst>
              <a:gd name="adj" fmla="val 16667"/>
            </a:avLst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7200" y="4224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BONUS Multimodal:  Speech → Text → Summary → AI Voice Narration  (gTTS)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398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Used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14984"/>
            <a:ext cx="822960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4114800" cy="1143000"/>
          </a:xfrm>
          <a:prstGeom prst="rect">
            <a:avLst/>
          </a:prstGeom>
          <a:solidFill>
            <a:srgbClr val="132040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73152" cy="1143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490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Whisper Small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7647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(ASR)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19659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Multilingual, robust to noise. Transcribes raw audio with language detection and timestamps.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0" y="1417320"/>
            <a:ext cx="4114800" cy="1143000"/>
          </a:xfrm>
          <a:prstGeom prst="rect">
            <a:avLst/>
          </a:prstGeom>
          <a:solidFill>
            <a:srgbClr val="132040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46320" y="1417320"/>
            <a:ext cx="73152" cy="114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0" y="1490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DistilBART CNN 12-6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17647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Abstractive Summarization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19659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BART model fine-tuned on CNN/DailyMail news — fast and high-quality summaries.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697480"/>
            <a:ext cx="4114800" cy="1143000"/>
          </a:xfrm>
          <a:prstGeom prst="rect">
            <a:avLst/>
          </a:prstGeom>
          <a:solidFill>
            <a:srgbClr val="132040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697480"/>
            <a:ext cx="73152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2770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SST-2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0449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2461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Stanford Sentiment Treebank. Classifies POSITIVE / NEGATIVE with confidence score.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2697480"/>
            <a:ext cx="4114800" cy="1143000"/>
          </a:xfrm>
          <a:prstGeom prst="rect">
            <a:avLst/>
          </a:prstGeom>
          <a:solidFill>
            <a:srgbClr val="132040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46320" y="2697480"/>
            <a:ext cx="7315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0" y="2770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KeyBERT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0" y="30449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Extraction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32461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BERT embeddings to extract top-N semantically relevant keywords and key phrases.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834640" y="3977640"/>
            <a:ext cx="3474720" cy="1143000"/>
          </a:xfrm>
          <a:prstGeom prst="rect">
            <a:avLst/>
          </a:prstGeom>
          <a:solidFill>
            <a:srgbClr val="132040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834640" y="3977640"/>
            <a:ext cx="73152" cy="11430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017520" y="40507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gTTS (Google TTS)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017520" y="432511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 Narration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017520" y="45262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the generated summary into spoken audio (MP3). The Bonus multimodal output.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88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Input Design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83920"/>
            <a:ext cx="822960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4206240" cy="3429000"/>
          </a:xfrm>
          <a:prstGeom prst="rect">
            <a:avLst/>
          </a:prstGeom>
          <a:solidFill>
            <a:srgbClr val="0A1628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Prompt Engineering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99339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Prefix: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40280" y="199339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"Summarize and extract key details: [Transcript]"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45059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num_beams: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40280" y="245059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→  Better beam search diversity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290779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length_penalty: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40280" y="290779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 →  Rewards longer, detailed summaries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336499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max_length: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40280" y="336499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tokens (slider: 50–200)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382219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min_length: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40280" y="382219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tokens (avoids one-liners)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427939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do_sample: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40280" y="427939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 →  Deterministic outputs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37760" y="1417320"/>
            <a:ext cx="3749040" cy="3429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12064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⚗️  Input Variations Tested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74920" y="1993392"/>
            <a:ext cx="3429000" cy="438912"/>
          </a:xfrm>
          <a:prstGeom prst="roundRect">
            <a:avLst>
              <a:gd name="adj" fmla="val 10417"/>
            </a:avLst>
          </a:prstGeom>
          <a:solidFill>
            <a:srgbClr val="1320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166360" y="202996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Clean Audio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29400" y="20299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quality, 16kHz WAV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74920" y="2542032"/>
            <a:ext cx="3429000" cy="438912"/>
          </a:xfrm>
          <a:prstGeom prst="roundRect">
            <a:avLst>
              <a:gd name="adj" fmla="val 10417"/>
            </a:avLst>
          </a:prstGeom>
          <a:solidFill>
            <a:srgbClr val="1320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66360" y="25786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Noisy Audio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29400" y="257860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noise σ=0.02 added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74920" y="3090672"/>
            <a:ext cx="3429000" cy="438912"/>
          </a:xfrm>
          <a:prstGeom prst="roundRect">
            <a:avLst>
              <a:gd name="adj" fmla="val 10417"/>
            </a:avLst>
          </a:prstGeom>
          <a:solidFill>
            <a:srgbClr val="1320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66360" y="31272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Short Clip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29400" y="312724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 seconds, single topic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74920" y="3639312"/>
            <a:ext cx="3429000" cy="438912"/>
          </a:xfrm>
          <a:prstGeom prst="roundRect">
            <a:avLst>
              <a:gd name="adj" fmla="val 10417"/>
            </a:avLst>
          </a:prstGeom>
          <a:solidFill>
            <a:srgbClr val="1320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166360" y="36758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Long Lecture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29400" y="367588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min, multi-topic audio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74920" y="4187952"/>
            <a:ext cx="3429000" cy="438912"/>
          </a:xfrm>
          <a:prstGeom prst="roundRect">
            <a:avLst>
              <a:gd name="adj" fmla="val 10417"/>
            </a:avLst>
          </a:prstGeom>
          <a:solidFill>
            <a:srgbClr val="1320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166360" y="42245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Multilingual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629400" y="422452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Non-English auto-detected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0540" y="3581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Results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1644"/>
            <a:ext cx="822960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4023360" cy="3520440"/>
          </a:xfrm>
          <a:prstGeom prst="rect">
            <a:avLst/>
          </a:prstGeom>
          <a:solidFill>
            <a:srgbClr val="132040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Sample Transcript (Whisper)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8745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"Mr. Quilter is the apostle of the middle classes and we are glad to welcome his gospel. He tells us that at this festive season of the year..."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8163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Generated Summary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1089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"Mr. Quilter addresses the middle classes, welcoming his philosophical perspective on social values during festive occasions."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85876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Sentiment:   POSITIVE (0.921)        🏷️  Keywords:   middle classes · apostle · festive season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42976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AI Voice Narration:   narration.mp3 generated ✅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1371600"/>
            <a:ext cx="3977640" cy="3520440"/>
          </a:xfrm>
          <a:prstGeom prst="rect">
            <a:avLst/>
          </a:prstGeom>
          <a:solidFill>
            <a:srgbClr val="132040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1508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Key Findings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1993392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19933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120640" y="199339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correctly identified proper nouns (e.g. 'Mr. Quilter') even in noisy audio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46888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24688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120640" y="246888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DistilBART produced human-like summaries without hallucination on short clips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2944368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0" y="29443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20640" y="294436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correctly labeled lecture content as POSITIVE / NEUTRAL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3419856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34198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120640" y="3419856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KeyBERT extracted domain-relevant phrases in all tested audio samples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3895344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46320" y="38953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120640" y="3895344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gTTS narration of summary was clear and natural-sounding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4370832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46320" y="43708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120640" y="437083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ran in under 25 seconds on CPU for a 60-second audio clip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45364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Clean vs Noisy Audio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70204"/>
            <a:ext cx="822960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2926077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Clean Audio ✅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Noisy Audio 🔊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Winner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WER (↓ better)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0.082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0.241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Clean  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ROUGE-1 (↑)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0.631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0.487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Clean  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ROUGE-2 (↑)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0.412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0.298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Clean  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ROUGE-L (↑)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0.589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0.451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Clean  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Latency (sec)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18.4s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19.1s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Clean  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Sentiment Acc.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POSITIVE (0.921)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POSITIVE (0.874)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Both 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526280"/>
            <a:ext cx="2651760" cy="502920"/>
          </a:xfrm>
          <a:prstGeom prst="rect">
            <a:avLst/>
          </a:prstGeom>
          <a:solidFill>
            <a:srgbClr val="0A1628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45445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WER Increase</a:t>
            </a:r>
            <a:endParaRPr lang="en-US" sz="1000" dirty="0"/>
          </a:p>
        </p:txBody>
      </p:sp>
      <p:sp>
        <p:nvSpPr>
          <p:cNvPr id="7" name="Text 7"/>
          <p:cNvSpPr/>
          <p:nvPr/>
        </p:nvSpPr>
        <p:spPr>
          <a:xfrm>
            <a:off x="548640" y="47548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+193% error rate in noisy conditions — highlights Whisper's sensitivity to SNR.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91840" y="4526280"/>
            <a:ext cx="2651760" cy="502920"/>
          </a:xfrm>
          <a:prstGeom prst="rect">
            <a:avLst/>
          </a:prstGeom>
          <a:solidFill>
            <a:srgbClr val="0A1628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383280" y="45445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ROUGE Drop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383280" y="47548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~23% ROUGE-1 reduction proves summary quality degrades with poor transcription.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126480" y="4526280"/>
            <a:ext cx="2651760" cy="502920"/>
          </a:xfrm>
          <a:prstGeom prst="rect">
            <a:avLst/>
          </a:prstGeom>
          <a:solidFill>
            <a:srgbClr val="0A1628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217920" y="45445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Multimodal Bonus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217920" y="47548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clean and noisy pipelines successfully generated voice narration output.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Used (Disclosure)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822960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4114800" cy="1024128"/>
          </a:xfrm>
          <a:prstGeom prst="rect">
            <a:avLst/>
          </a:prstGeom>
          <a:solidFill>
            <a:srgbClr val="132040"/>
          </a:solidFill>
          <a:ln w="63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Anthropic Claude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837944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design, code structure, error debugging, prompt engineering guidance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417320"/>
            <a:ext cx="4114800" cy="1024128"/>
          </a:xfrm>
          <a:prstGeom prst="rect">
            <a:avLst/>
          </a:prstGeom>
          <a:solidFill>
            <a:srgbClr val="132040"/>
          </a:solidFill>
          <a:ln w="63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83480" y="150876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🤗  Hugging Face Hub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1837944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hosting for Whisper, DistilBART, DistilBERT; Transformers library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87752"/>
            <a:ext cx="4114800" cy="1024128"/>
          </a:xfrm>
          <a:prstGeom prst="rect">
            <a:avLst/>
          </a:prstGeom>
          <a:solidFill>
            <a:srgbClr val="132040"/>
          </a:solidFill>
          <a:ln w="63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267919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Google Colab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008376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GPU-accelerated runtime for model inference and pipeline execution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587752"/>
            <a:ext cx="4114800" cy="1024128"/>
          </a:xfrm>
          <a:prstGeom prst="rect">
            <a:avLst/>
          </a:prstGeom>
          <a:solidFill>
            <a:srgbClr val="132040"/>
          </a:solidFill>
          <a:ln w="63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83480" y="267919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GitHub Copilot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3008376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In-line code completion and function suggestions during development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758184"/>
            <a:ext cx="4114800" cy="1024128"/>
          </a:xfrm>
          <a:prstGeom prst="rect">
            <a:avLst/>
          </a:prstGeom>
          <a:solidFill>
            <a:srgbClr val="132040"/>
          </a:solidFill>
          <a:ln w="63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384962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🖱️  Cursor AI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4178808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code editing and refactoring of pipeline functions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3758184"/>
            <a:ext cx="4114800" cy="1024128"/>
          </a:xfrm>
          <a:prstGeom prst="rect">
            <a:avLst/>
          </a:prstGeom>
          <a:solidFill>
            <a:srgbClr val="132040"/>
          </a:solidFill>
          <a:ln w="63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83480" y="384962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Gemini (Google)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4178808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documentation, README drafting, and PPT content outline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8862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 ·  GitHub  ·  Demo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05256"/>
            <a:ext cx="822960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029200" cy="3474720"/>
          </a:xfrm>
          <a:prstGeom prst="rect">
            <a:avLst/>
          </a:prstGeom>
          <a:solidFill>
            <a:srgbClr val="132040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Known Limitations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Mono-speaker optimized — multi-speaker diarization not yet implemented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350008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Real-time performance requires GPU; CPU latency ~20–30s per clip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79776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DistilBART may hallucinate on very short (&lt;20 word) transcripts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209544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gTTS requires internet connection (Google API-dependent)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639312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Summarization limited to English; multilingual BART needed for others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06908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speaker identification or timestamps in current output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0" y="1417320"/>
            <a:ext cx="3017520" cy="1508760"/>
          </a:xfrm>
          <a:prstGeom prst="rect">
            <a:avLst/>
          </a:prstGeom>
          <a:solidFill>
            <a:srgbClr val="132040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06440" y="1536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 GitHub Repository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06440" y="19476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https://github.com/Rehan-rahim/VoiceIQ-Multimodal-Intelligence</a:t>
            </a:r>
            <a:endParaRPr lang="en-US" sz="1200" b="1" dirty="0"/>
          </a:p>
        </p:txBody>
      </p:sp>
      <p:sp>
        <p:nvSpPr>
          <p:cNvPr id="18" name="Text 16"/>
          <p:cNvSpPr/>
          <p:nvPr/>
        </p:nvSpPr>
        <p:spPr>
          <a:xfrm>
            <a:off x="5806440" y="21717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Includes: notebook, README, outputs, eval results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0" y="3108960"/>
            <a:ext cx="3017520" cy="1508760"/>
          </a:xfrm>
          <a:prstGeom prst="rect">
            <a:avLst/>
          </a:prstGeom>
          <a:solidFill>
            <a:srgbClr val="132040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06440" y="3227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Demo Video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06440" y="35387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[YouTube / Google Drive Link]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806440" y="38404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Shows: upload → pipeline run → all outputs → evaluation comparison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4645152"/>
            <a:ext cx="8229600" cy="320040"/>
          </a:xfrm>
          <a:prstGeom prst="rect">
            <a:avLst/>
          </a:prstGeom>
          <a:solidFill>
            <a:srgbClr val="3B82F6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4645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1108</Words>
  <Application>Microsoft Office PowerPoint</Application>
  <PresentationFormat>On-screen Show (16:9)</PresentationFormat>
  <Paragraphs>226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VoiceIQ-AI: Smart Lecture &amp; Meeting Assistant</dc:title>
  <dc:subject>PptxGenJS Presentation</dc:subject>
  <dc:creator>Rehan Al</dc:creator>
  <cp:lastModifiedBy>Ali, Rehan (UMKC-Student)</cp:lastModifiedBy>
  <cp:revision>3</cp:revision>
  <dcterms:created xsi:type="dcterms:W3CDTF">2026-04-23T05:56:00Z</dcterms:created>
  <dcterms:modified xsi:type="dcterms:W3CDTF">2026-04-25T03:59:41Z</dcterms:modified>
</cp:coreProperties>
</file>